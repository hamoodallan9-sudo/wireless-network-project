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Reinforcement Learning for Emergency Space-Air-Ground Connectivity: Qusin, Nablus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From a GitHub repository to a reproducible, honest evaluation</a:t>
            </a:r>
            <a:endParaRPr lang="en-US" sz="2000" dirty="0"/>
          </a:p>
        </p:txBody>
      </p:sp>
      <p:sp>
        <p:nvSpPr>
          <p:cNvPr id="4" name="author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Mohammed Yadak  |  ID 12217817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problem: what if the ground network is down?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Six villages around Qusin (west of Nablus) lose service in an emergency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Fall-back: HAPS at 20 km as flying base stations, backed by LEO satellites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Question: how to assign users to HAPS and set power so nobody is left out?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Goal: a problem from our own surroundings, solved with an open-source tool</a:t>
            </a:r>
            <a:endParaRPr lang="en-US" sz="1500" dirty="0"/>
          </a:p>
        </p:txBody>
      </p:sp>
      <p:sp>
        <p:nvSpPr>
          <p:cNvPr id="4" name="stat villages card"/>
          <p:cNvSpPr/>
          <p:nvPr/>
        </p:nvSpPr>
        <p:spPr>
          <a:xfrm>
            <a:off x="5577840" y="1188720"/>
            <a:ext cx="31089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villages number"/>
          <p:cNvSpPr txBox="1"/>
          <p:nvPr/>
        </p:nvSpPr>
        <p:spPr>
          <a:xfrm>
            <a:off x="5577840" y="1280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</a:t>
            </a:r>
            <a:endParaRPr lang="en-US" sz="3200" dirty="0"/>
          </a:p>
        </p:txBody>
      </p:sp>
      <p:sp>
        <p:nvSpPr>
          <p:cNvPr id="6" name="stat villages label"/>
          <p:cNvSpPr txBox="1"/>
          <p:nvPr/>
        </p:nvSpPr>
        <p:spPr>
          <a:xfrm>
            <a:off x="571500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villages, about 16,500 people (2017 census)</a:t>
            </a:r>
            <a:endParaRPr lang="en-US" sz="1200" dirty="0"/>
          </a:p>
        </p:txBody>
      </p:sp>
      <p:sp>
        <p:nvSpPr>
          <p:cNvPr id="7" name="stat network card"/>
          <p:cNvSpPr/>
          <p:nvPr/>
        </p:nvSpPr>
        <p:spPr>
          <a:xfrm>
            <a:off x="5577840" y="2926080"/>
            <a:ext cx="31089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network number"/>
          <p:cNvSpPr txBox="1"/>
          <p:nvPr/>
        </p:nvSpPr>
        <p:spPr>
          <a:xfrm>
            <a:off x="5577840" y="3017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 + 3</a:t>
            </a:r>
            <a:endParaRPr lang="en-US" sz="3200" dirty="0"/>
          </a:p>
        </p:txBody>
      </p:sp>
      <p:sp>
        <p:nvSpPr>
          <p:cNvPr id="9" name="stat network label"/>
          <p:cNvSpPr txBox="1"/>
          <p:nvPr/>
        </p:nvSpPr>
        <p:spPr>
          <a:xfrm>
            <a:off x="5715000" y="3749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HAPS + LEO satellites in the fall-back network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tool: a Q-learning SAGIN toolkit (GitHub topic: sagin)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Correct, reproducible rewrite of an old MATLAB project; teaching and baseline reference (no novelty claim)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+ NumPy; independent tabular Q-learners for user association and transmit power; 3 baselines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Rural and emergency coverage studies, teaching; not a production network planner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Quick, transparent experiments (seconds to minutes); baseline for new methods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git clone, pip install, python tests.py, python experiment.py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why note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Why this repo: 7 stars, runs on a laptop, ships tests and baselines (the only other repo in the topic needs an LLM API).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Running the toolkit on my own laptop</a:t>
            </a:r>
            <a:endParaRPr lang="en-US" sz="2600" dirty="0"/>
          </a:p>
        </p:txBody>
      </p:sp>
      <p:pic>
        <p:nvPicPr>
          <p:cNvPr id="3" name="Image 0" descr="Terminal: five tests pass and the quick experiment shows Q-learning 21.6% above the best bas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566160"/>
          </a:xfrm>
          <a:prstGeom prst="rect">
            <a:avLst/>
          </a:prstGeom>
        </p:spPr>
      </p:pic>
      <p:sp>
        <p:nvSpPr>
          <p:cNvPr id="4" name="caption tests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python tests.py: 5 sanity tests pass. python experiment.py --quick: Q-learning is +21.6% over the best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Scenario: real villages, population-weighted users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566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Village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Population (2017)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Qusin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2,251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Deir Sharaf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2,949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Beit Iba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4,079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Sarra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3,384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Zawata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2,537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Beit Wazan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1,312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4389120" y="11430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placed around villages in proportion to population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30 (moderate) and 45 (busy) representative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Metrics: outage (&lt; 1 Mbit/s), worst-5% rate, transmit power, blocked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End-to-end rate = min(access rate, backhaul share)</a:t>
            </a:r>
            <a:endParaRPr lang="en-US" sz="1400" dirty="0"/>
          </a:p>
        </p:txBody>
      </p:sp>
      <p:sp>
        <p:nvSpPr>
          <p:cNvPr id="5" name="source"/>
          <p:cNvSpPr txBox="1"/>
          <p:nvPr/>
        </p:nvSpPr>
        <p:spPr>
          <a:xfrm>
            <a:off x="45720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Coordinates and populations: public village pages citing PCBS 2017.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red flag: the first result looked great</a:t>
            </a:r>
            <a:endParaRPr lang="en-US" sz="2600" dirty="0"/>
          </a:p>
        </p:txBody>
      </p:sp>
      <p:pic>
        <p:nvPicPr>
          <p:cNvPr id="3" name="Image 0" descr="Greedy uses four HAPS; Q-learning puts all 30 users on one H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937760" cy="2990088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0" y="11430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Q-learning outage: 14% vs 51% for naive baselines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But the control 'all users on one HAPS' scored 10%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Q-learning had switched off most HAPS (1.5 of 4 active)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Cause: unrealistic radio model; interference swamps the signal</a:t>
            </a:r>
            <a:endParaRPr lang="en-US" sz="1300" dirty="0"/>
          </a:p>
        </p:txBody>
      </p:sp>
      <p:sp>
        <p:nvSpPr>
          <p:cNvPr id="5" name="lesson1 card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esson1 bar"/>
          <p:cNvSpPr/>
          <p:nvPr/>
        </p:nvSpPr>
        <p:spPr>
          <a:xfrm>
            <a:off x="457200" y="4160520"/>
            <a:ext cx="64008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esson1"/>
          <p:cNvSpPr txBox="1"/>
          <p:nvPr/>
        </p:nvSpPr>
        <p:spPr>
          <a:xfrm>
            <a:off x="621792" y="416052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Lesson 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Always run the simplest possible control before believing a gain.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fix: a more realistic radio model</a:t>
            </a:r>
            <a:endParaRPr lang="en-US" sz="2600" dirty="0"/>
          </a:p>
        </p:txBody>
      </p:sp>
      <p:sp>
        <p:nvSpPr>
          <p:cNvPr id="3" name="model 1 card"/>
          <p:cNvSpPr/>
          <p:nvPr/>
        </p:nvSpPr>
        <p:spPr>
          <a:xfrm>
            <a:off x="457200" y="1097280"/>
            <a:ext cx="51206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el 1 bar"/>
          <p:cNvSpPr/>
          <p:nvPr/>
        </p:nvSpPr>
        <p:spPr>
          <a:xfrm>
            <a:off x="457200" y="109728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model 1"/>
          <p:cNvSpPr txBox="1"/>
          <p:nvPr/>
        </p:nvSpPr>
        <p:spPr>
          <a:xfrm>
            <a:off x="621792" y="1097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Spot beams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Interference depends on beam angle (35 dBi, 25 dB side-lobe cap)</a:t>
            </a:r>
            <a:endParaRPr lang="en-US" sz="1400" dirty="0"/>
          </a:p>
        </p:txBody>
      </p:sp>
      <p:sp>
        <p:nvSpPr>
          <p:cNvPr id="6" name="model 2 card"/>
          <p:cNvSpPr/>
          <p:nvPr/>
        </p:nvSpPr>
        <p:spPr>
          <a:xfrm>
            <a:off x="457200" y="1984248"/>
            <a:ext cx="51206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odel 2 bar"/>
          <p:cNvSpPr/>
          <p:nvPr/>
        </p:nvSpPr>
        <p:spPr>
          <a:xfrm>
            <a:off x="457200" y="1984248"/>
            <a:ext cx="64008" cy="777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model 2"/>
          <p:cNvSpPr txBox="1"/>
          <p:nvPr/>
        </p:nvSpPr>
        <p:spPr>
          <a:xfrm>
            <a:off x="621792" y="19842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Frequency reuse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Band split into sub-bands; neighbouring HAPS use different ones</a:t>
            </a:r>
            <a:endParaRPr lang="en-US" sz="1400" dirty="0"/>
          </a:p>
        </p:txBody>
      </p:sp>
      <p:sp>
        <p:nvSpPr>
          <p:cNvPr id="9" name="model 3 card"/>
          <p:cNvSpPr/>
          <p:nvPr/>
        </p:nvSpPr>
        <p:spPr>
          <a:xfrm>
            <a:off x="457200" y="2871216"/>
            <a:ext cx="51206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el 3 bar"/>
          <p:cNvSpPr/>
          <p:nvPr/>
        </p:nvSpPr>
        <p:spPr>
          <a:xfrm>
            <a:off x="457200" y="2871216"/>
            <a:ext cx="64008" cy="7772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model 3"/>
          <p:cNvSpPr txBox="1"/>
          <p:nvPr/>
        </p:nvSpPr>
        <p:spPr>
          <a:xfrm>
            <a:off x="621792" y="287121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Capacity limit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users per HAPS; extra users are blocked</a:t>
            </a:r>
            <a:endParaRPr lang="en-US" sz="1400" dirty="0"/>
          </a:p>
        </p:txBody>
      </p:sp>
      <p:sp>
        <p:nvSpPr>
          <p:cNvPr id="12" name="model 4 card"/>
          <p:cNvSpPr/>
          <p:nvPr/>
        </p:nvSpPr>
        <p:spPr>
          <a:xfrm>
            <a:off x="457200" y="3758184"/>
            <a:ext cx="51206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odel 4 bar"/>
          <p:cNvSpPr/>
          <p:nvPr/>
        </p:nvSpPr>
        <p:spPr>
          <a:xfrm>
            <a:off x="457200" y="3758184"/>
            <a:ext cx="64008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model 4"/>
          <p:cNvSpPr txBox="1"/>
          <p:nvPr/>
        </p:nvSpPr>
        <p:spPr>
          <a:xfrm>
            <a:off x="621792" y="375818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Directional backhaul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HAPS points a dish at its LEO; other LEOs are attenuated</a:t>
            </a:r>
            <a:endParaRPr lang="en-US" sz="1400" dirty="0"/>
          </a:p>
        </p:txBody>
      </p:sp>
      <p:pic>
        <p:nvPicPr>
          <p:cNvPr id="15" name="Image 0" descr="Beam pattern for 20, 27 and 35 d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80160"/>
            <a:ext cx="3017520" cy="1874520"/>
          </a:xfrm>
          <a:prstGeom prst="rect">
            <a:avLst/>
          </a:prstGeom>
        </p:spPr>
      </p:pic>
      <p:sp>
        <p:nvSpPr>
          <p:cNvPr id="16" name="beam caption"/>
          <p:cNvSpPr txBox="1"/>
          <p:nvPr/>
        </p:nvSpPr>
        <p:spPr>
          <a:xfrm>
            <a:off x="576072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 20 dBi beam covers the whole area; a 35 dBi beam separates users 1-2 km apart.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Fair baselines changed the conclusion</a:t>
            </a:r>
            <a:endParaRPr lang="en-US" sz="2600" dirty="0"/>
          </a:p>
        </p:txBody>
      </p:sp>
      <p:sp>
        <p:nvSpPr>
          <p:cNvPr id="3" name="baseline 1 card"/>
          <p:cNvSpPr/>
          <p:nvPr/>
        </p:nvSpPr>
        <p:spPr>
          <a:xfrm>
            <a:off x="457200" y="1097280"/>
            <a:ext cx="530352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seline 1 bar"/>
          <p:cNvSpPr/>
          <p:nvPr/>
        </p:nvSpPr>
        <p:spPr>
          <a:xfrm>
            <a:off x="457200" y="1097280"/>
            <a:ext cx="64008" cy="685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seline 1"/>
          <p:cNvSpPr txBox="1"/>
          <p:nvPr/>
        </p:nvSpPr>
        <p:spPr>
          <a:xfrm>
            <a:off x="621792" y="1097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GreedyLB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Capacity-aware association: strongest users first, best HAPS with room</a:t>
            </a:r>
            <a:endParaRPr lang="en-US" sz="1400" dirty="0"/>
          </a:p>
        </p:txBody>
      </p:sp>
      <p:sp>
        <p:nvSpPr>
          <p:cNvPr id="6" name="baseline 2 card"/>
          <p:cNvSpPr/>
          <p:nvPr/>
        </p:nvSpPr>
        <p:spPr>
          <a:xfrm>
            <a:off x="457200" y="1874520"/>
            <a:ext cx="530352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aseline 2 bar"/>
          <p:cNvSpPr/>
          <p:nvPr/>
        </p:nvSpPr>
        <p:spPr>
          <a:xfrm>
            <a:off x="457200" y="1874520"/>
            <a:ext cx="64008" cy="6858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baseline 2"/>
          <p:cNvSpPr txBox="1"/>
          <p:nvPr/>
        </p:nvSpPr>
        <p:spPr>
          <a:xfrm>
            <a:off x="621792" y="187452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GreedyLB+LEO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Also balances HAPS across satellites (all HAPS tended to pick the same one)</a:t>
            </a:r>
            <a:endParaRPr lang="en-US" sz="1400" dirty="0"/>
          </a:p>
        </p:txBody>
      </p:sp>
      <p:sp>
        <p:nvSpPr>
          <p:cNvPr id="9" name="baseline 3 card"/>
          <p:cNvSpPr/>
          <p:nvPr/>
        </p:nvSpPr>
        <p:spPr>
          <a:xfrm>
            <a:off x="457200" y="2651760"/>
            <a:ext cx="530352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seline 3 bar"/>
          <p:cNvSpPr/>
          <p:nvPr/>
        </p:nvSpPr>
        <p:spPr>
          <a:xfrm>
            <a:off x="457200" y="2651760"/>
            <a:ext cx="64008" cy="685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aseline 3"/>
          <p:cNvSpPr txBox="1"/>
          <p:nvPr/>
        </p:nvSpPr>
        <p:spPr>
          <a:xfrm>
            <a:off x="621792" y="2651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Smallest common power that keeps outage at 1% or less</a:t>
            </a:r>
            <a:endParaRPr lang="en-US" sz="1400" dirty="0"/>
          </a:p>
        </p:txBody>
      </p:sp>
      <p:sp>
        <p:nvSpPr>
          <p:cNvPr id="12" name="baseline 4 card"/>
          <p:cNvSpPr/>
          <p:nvPr/>
        </p:nvSpPr>
        <p:spPr>
          <a:xfrm>
            <a:off x="457200" y="3429000"/>
            <a:ext cx="5303520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seline 4 bar"/>
          <p:cNvSpPr/>
          <p:nvPr/>
        </p:nvSpPr>
        <p:spPr>
          <a:xfrm>
            <a:off x="457200" y="3429000"/>
            <a:ext cx="64008" cy="6858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baseline 4"/>
          <p:cNvSpPr txBox="1"/>
          <p:nvPr/>
        </p:nvSpPr>
        <p:spPr>
          <a:xfrm>
            <a:off x="621792" y="34290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SingleHAPS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Control: all users on the best HAPS</a:t>
            </a:r>
            <a:endParaRPr lang="en-US" sz="1400" dirty="0"/>
          </a:p>
        </p:txBody>
      </p:sp>
      <p:sp>
        <p:nvSpPr>
          <p:cNvPr id="15" name="bullets"/>
          <p:cNvSpPr txBox="1"/>
          <p:nvPr/>
        </p:nvSpPr>
        <p:spPr>
          <a:xfrm>
            <a:off x="6035040" y="11887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21 of 21 outage users were limited by the satellite backhaul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 topologies per 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Paired differences with 95% bootstrap CIs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Results: 30 and 45 users, 30 random topologies each</a:t>
            </a:r>
            <a:endParaRPr lang="en-US" sz="2600" dirty="0"/>
          </a:p>
        </p:txBody>
      </p:sp>
      <p:pic>
        <p:nvPicPr>
          <p:cNvPr id="3" name="Image 0" descr="Outage, worst-case rate, power and blocking for all methods at 30 and 45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538728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Error bars: standard error over 30 topologies. 3 LEO, 4 HAPS, 35 dBi beams, 2 sub-bands.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My own run reproduces the article's numbers</a:t>
            </a:r>
            <a:endParaRPr lang="en-US" sz="2600" dirty="0"/>
          </a:p>
        </p:txBody>
      </p:sp>
      <p:pic>
        <p:nvPicPr>
          <p:cNvPr id="3" name="Image 0" descr="Terminal: main results table from python sagin_v2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1691640"/>
          </a:xfrm>
          <a:prstGeom prst="rect">
            <a:avLst/>
          </a:prstGeom>
        </p:spPr>
      </p:pic>
      <p:pic>
        <p:nvPicPr>
          <p:cNvPr id="4" name="Image 1" descr="Terminal: paired differences with 95% confidence interv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4297680" cy="1883664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02920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sagin_v2.py: 10 topologies, 20,000 episodes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paired_stats.py: 30 topologies, 95% bootstrap CIs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Paired results match Table 8 and sweeps match Table 9 of the article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numbers say</a:t>
            </a:r>
            <a:endParaRPr lang="en-US" sz="2600" dirty="0"/>
          </a:p>
        </p:txBody>
      </p:sp>
      <p:sp>
        <p:nvSpPr>
          <p:cNvPr id="3" name="stat naive card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naive number"/>
          <p:cNvSpPr txBox="1"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-6.4 pp</a:t>
            </a:r>
            <a:endParaRPr lang="en-US" sz="3200" dirty="0"/>
          </a:p>
        </p:txBody>
      </p:sp>
      <p:sp>
        <p:nvSpPr>
          <p:cNvPr id="5" name="stat naive label"/>
          <p:cNvSpPr txBox="1"/>
          <p:nvPr/>
        </p:nvSpPr>
        <p:spPr>
          <a:xfrm>
            <a:off x="59436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outage vs best uniform baseline at 45 users (CI -10.5 to -2.2); about 20 W less power</a:t>
            </a:r>
            <a:endParaRPr lang="en-US" sz="1200" dirty="0"/>
          </a:p>
        </p:txBody>
      </p:sp>
      <p:sp>
        <p:nvSpPr>
          <p:cNvPr id="6" name="stat greedy card"/>
          <p:cNvSpPr/>
          <p:nvPr/>
        </p:nvSpPr>
        <p:spPr>
          <a:xfrm>
            <a:off x="324612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greedy number"/>
          <p:cNvSpPr txBox="1"/>
          <p:nvPr/>
        </p:nvSpPr>
        <p:spPr>
          <a:xfrm>
            <a:off x="324612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+10.3 pp</a:t>
            </a:r>
            <a:endParaRPr lang="en-US" sz="3200" dirty="0"/>
          </a:p>
        </p:txBody>
      </p:sp>
      <p:sp>
        <p:nvSpPr>
          <p:cNvPr id="8" name="stat greedy label"/>
          <p:cNvSpPr txBox="1"/>
          <p:nvPr/>
        </p:nvSpPr>
        <p:spPr>
          <a:xfrm>
            <a:off x="338328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outage vs GreedyLB at 45 users: 10.7% vs 0.4%</a:t>
            </a:r>
            <a:endParaRPr lang="en-US" sz="1200" dirty="0"/>
          </a:p>
        </p:txBody>
      </p:sp>
      <p:sp>
        <p:nvSpPr>
          <p:cNvPr id="9" name="stat power card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power number"/>
          <p:cNvSpPr txBox="1"/>
          <p:nvPr/>
        </p:nvSpPr>
        <p:spPr>
          <a:xfrm>
            <a:off x="603504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30 vs 7-15 W</a:t>
            </a:r>
            <a:endParaRPr lang="en-US" sz="3200" dirty="0"/>
          </a:p>
        </p:txBody>
      </p:sp>
      <p:sp>
        <p:nvSpPr>
          <p:cNvPr id="11" name="stat power label"/>
          <p:cNvSpPr txBox="1"/>
          <p:nvPr/>
        </p:nvSpPr>
        <p:spPr>
          <a:xfrm>
            <a:off x="617220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Q-learning vs minP total transmit power</a:t>
            </a:r>
            <a:endParaRPr lang="en-US" sz="1200" dirty="0"/>
          </a:p>
        </p:txBody>
      </p:sp>
      <p:sp>
        <p:nvSpPr>
          <p:cNvPr id="12" name="bullets"/>
          <p:cNvSpPr txBox="1"/>
          <p:nvPr/>
        </p:nvSpPr>
        <p:spPr>
          <a:xfrm>
            <a:off x="457200" y="2880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Q-learning clearly beats naive strategies, but not capacity-aware heuristics on outage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Beam gain dominates: at 20 dBi every method has 20-31% outage; at 35 dBi sensible methods are at a few percent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Q-learning is best only when beams are weak (20 dBi)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Lessons and takeaways</a:t>
            </a:r>
            <a:endParaRPr lang="en-US" sz="2600" dirty="0"/>
          </a:p>
        </p:txBody>
      </p:sp>
      <p:sp>
        <p:nvSpPr>
          <p:cNvPr id="3" name="takeaway 1 card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akeaway 1 bar"/>
          <p:cNvSpPr/>
          <p:nvPr/>
        </p:nvSpPr>
        <p:spPr>
          <a:xfrm>
            <a:off x="457200" y="1097280"/>
            <a:ext cx="64008" cy="7132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akeaway 1"/>
          <p:cNvSpPr txBox="1"/>
          <p:nvPr/>
        </p:nvSpPr>
        <p:spPr>
          <a:xfrm>
            <a:off x="621792" y="109728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Hardware first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Antenna directivity changes outage far more than the algorithm</a:t>
            </a:r>
            <a:endParaRPr lang="en-US" sz="1400" dirty="0"/>
          </a:p>
        </p:txBody>
      </p:sp>
      <p:sp>
        <p:nvSpPr>
          <p:cNvPr id="6" name="takeaway 2 card"/>
          <p:cNvSpPr/>
          <p:nvPr/>
        </p:nvSpPr>
        <p:spPr>
          <a:xfrm>
            <a:off x="457200" y="192024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akeaway 2 bar"/>
          <p:cNvSpPr/>
          <p:nvPr/>
        </p:nvSpPr>
        <p:spPr>
          <a:xfrm>
            <a:off x="457200" y="1920240"/>
            <a:ext cx="64008" cy="7132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akeaway 2"/>
          <p:cNvSpPr txBox="1"/>
          <p:nvPr/>
        </p:nvSpPr>
        <p:spPr>
          <a:xfrm>
            <a:off x="621792" y="192024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Respect capacity, balance the backhaul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largest avoidable losses come from overloaded HAPS and a single shared satellite</a:t>
            </a:r>
            <a:endParaRPr lang="en-US" sz="1400" dirty="0"/>
          </a:p>
        </p:txBody>
      </p:sp>
      <p:sp>
        <p:nvSpPr>
          <p:cNvPr id="9" name="takeaway 3 card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akeaway 3 bar"/>
          <p:cNvSpPr/>
          <p:nvPr/>
        </p:nvSpPr>
        <p:spPr>
          <a:xfrm>
            <a:off x="457200" y="2743200"/>
            <a:ext cx="64008" cy="7132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akeaway 3"/>
          <p:cNvSpPr txBox="1"/>
          <p:nvPr/>
        </p:nvSpPr>
        <p:spPr>
          <a:xfrm>
            <a:off x="621792" y="274320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Controls and strong baselines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They turned a flattering plot into evidence</a:t>
            </a:r>
            <a:endParaRPr lang="en-US" sz="1400" dirty="0"/>
          </a:p>
        </p:txBody>
      </p:sp>
      <p:sp>
        <p:nvSpPr>
          <p:cNvPr id="12" name="takeaway 4 card"/>
          <p:cNvSpPr/>
          <p:nvPr/>
        </p:nvSpPr>
        <p:spPr>
          <a:xfrm>
            <a:off x="457200" y="356616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akeaway 4 bar"/>
          <p:cNvSpPr/>
          <p:nvPr/>
        </p:nvSpPr>
        <p:spPr>
          <a:xfrm>
            <a:off x="457200" y="3566160"/>
            <a:ext cx="64008" cy="71323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akeaway 4"/>
          <p:cNvSpPr txBox="1"/>
          <p:nvPr/>
        </p:nvSpPr>
        <p:spPr>
          <a:xfrm>
            <a:off x="621792" y="356616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Simulation with assumed parameters; no claim about real infrastructure</a:t>
            </a:r>
            <a:endParaRPr lang="en-US" sz="1400" dirty="0"/>
          </a:p>
        </p:txBody>
      </p:sp>
      <p:sp>
        <p:nvSpPr>
          <p:cNvPr id="15" name="footer note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Full tutorial article and code: every step reproducible on a laptop, no GPU.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sin SAGIN">
  <a:themeElements>
    <a:clrScheme name="Qusin SAGIN">
      <a:dk1>
        <a:srgbClr val="1F2A44"/>
      </a:dk1>
      <a:lt1>
        <a:srgbClr val="FFFFFF"/>
      </a:lt1>
      <a:dk2>
        <a:srgbClr val="0B3C5D"/>
      </a:dk2>
      <a:lt2>
        <a:srgbClr val="F3F6FA"/>
      </a:lt2>
      <a:accent1>
        <a:srgbClr val="D62728"/>
      </a:accent1>
      <a:accent2>
        <a:srgbClr val="1F77B4"/>
      </a:accent2>
      <a:accent3>
        <a:srgbClr val="2CA02C"/>
      </a:accent3>
      <a:accent4>
        <a:srgbClr val="FF7F0E"/>
      </a:accent4>
      <a:accent5>
        <a:srgbClr val="9467BD"/>
      </a:accent5>
      <a:accent6>
        <a:srgbClr val="8C564B"/>
      </a:accent6>
      <a:hlink>
        <a:srgbClr val="1F77B4"/>
      </a:hlink>
      <a:folHlink>
        <a:srgbClr val="9467BD"/>
      </a:folHlink>
    </a:clrScheme>
    <a:fontScheme name="Qusin SAG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for Emergency SAGIN Connectivity - Qusin, Nablus</dc:title>
  <dc:subject>PptxGenJS Presentation</dc:subject>
  <dc:creator>PptxGenJS</dc:creator>
  <cp:lastModifiedBy>PptxGenJS</cp:lastModifiedBy>
  <cp:revision>1</cp:revision>
  <dcterms:created xsi:type="dcterms:W3CDTF">2026-10-05T11:54:21Z</dcterms:created>
  <dcterms:modified xsi:type="dcterms:W3CDTF">2026-10-05T11:54:21Z</dcterms:modified>
</cp:coreProperties>
</file>